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1695" y="288000"/>
            <a:ext cx="900000" cy="90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1695" y="342000"/>
            <a:ext cx="900000" cy="79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algun Gothic"/>
              </a:rPr>
              <a:t>LG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503999"/>
            <a:ext cx="10031695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E6003C"/>
                </a:solidFill>
                <a:latin typeface="Malgun Gothic"/>
              </a:rPr>
              <a:t>LG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720000"/>
            <a:ext cx="1003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Malgun Gothic"/>
              </a:rPr>
              <a:t>Innovation for a Better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152000"/>
            <a:ext cx="10751695" cy="57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Customer Satisfaction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620000"/>
            <a:ext cx="10751695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E6003C"/>
                </a:solidFill>
                <a:latin typeface="Malgun Gothic"/>
              </a:rPr>
              <a:t>Brief — 데이터셋 · Best 모델 · 잘 못 맞히는 케이스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052000"/>
            <a:ext cx="2880000" cy="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24000"/>
            <a:ext cx="10751695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Malgun Gothic"/>
              </a:rPr>
              <a:t>생성일: 2026-05-14 16:36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5634000"/>
            <a:ext cx="2507923" cy="936000"/>
          </a:xfrm>
          <a:prstGeom prst="rect">
            <a:avLst/>
          </a:prstGeom>
          <a:solidFill>
            <a:srgbClr val="2A2A2A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0000" y="5634000"/>
            <a:ext cx="2507923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5742000"/>
            <a:ext cx="2507923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Malgun Gothic"/>
              </a:rPr>
              <a:t>최고 Macro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958000"/>
            <a:ext cx="2507923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E6003C"/>
                </a:solidFill>
                <a:latin typeface="Malgun Gothic"/>
              </a:rPr>
              <a:t>0.989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336000"/>
            <a:ext cx="2507923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Logistic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7923" y="5634000"/>
            <a:ext cx="2507923" cy="936000"/>
          </a:xfrm>
          <a:prstGeom prst="rect">
            <a:avLst/>
          </a:prstGeom>
          <a:solidFill>
            <a:srgbClr val="2A2A2A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7923" y="5634000"/>
            <a:ext cx="2507923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7923" y="5742000"/>
            <a:ext cx="2507923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Malgun Gothic"/>
              </a:rPr>
              <a:t>최고 Macro AUROC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7923" y="5958000"/>
            <a:ext cx="2507923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E6003C"/>
                </a:solidFill>
                <a:latin typeface="Malgun Gothic"/>
              </a:rPr>
              <a:t>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7923" y="6336000"/>
            <a:ext cx="2507923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Logistic Regression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847" y="5634000"/>
            <a:ext cx="2507923" cy="936000"/>
          </a:xfrm>
          <a:prstGeom prst="rect">
            <a:avLst/>
          </a:prstGeom>
          <a:solidFill>
            <a:srgbClr val="2A2A2A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634000"/>
            <a:ext cx="2507923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7" y="5742000"/>
            <a:ext cx="2507923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Malgun Gothic"/>
              </a:rPr>
              <a:t>Train /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5958000"/>
            <a:ext cx="2507923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E6003C"/>
                </a:solidFill>
                <a:latin typeface="Malgun Gothic"/>
              </a:rPr>
              <a:t>1050 : 450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6336000"/>
            <a:ext cx="2507923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70 : 30 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83771" y="5634000"/>
            <a:ext cx="2507923" cy="936000"/>
          </a:xfrm>
          <a:prstGeom prst="rect">
            <a:avLst/>
          </a:prstGeom>
          <a:solidFill>
            <a:srgbClr val="2A2A2A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83771" y="5634000"/>
            <a:ext cx="2507923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3771" y="5742000"/>
            <a:ext cx="2507923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Malgun Gothic"/>
              </a:rPr>
              <a:t>입력 변수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3771" y="5958000"/>
            <a:ext cx="2507923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E6003C"/>
                </a:solidFill>
                <a:latin typeface="Malgun Gothic"/>
              </a:rPr>
              <a:t>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3771" y="6336000"/>
            <a:ext cx="2507923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수치 48 + 범주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" y="6570000"/>
            <a:ext cx="10751695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E6003C"/>
                </a:solidFill>
                <a:latin typeface="Malgun Gothic"/>
              </a:rPr>
              <a:t>Life's Good   ·   LGD Customer Satisfaction Analysis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72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8000"/>
            <a:ext cx="11471695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1. 데이터셋 소개 — 무엇을 활용해서, 무엇을 예측하는가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450000"/>
            <a:ext cx="1147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FAE5EB"/>
                </a:solidFill>
                <a:latin typeface="Malgun Gothic"/>
              </a:rPr>
              <a:t>Source: customer_satisfaction_full_columns.xlsx  →  Train/Test 분할 (70% : 30%)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64000"/>
            <a:ext cx="41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📌 데이터 소스 &amp; 분할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8000" y="1080000"/>
          <a:ext cx="4140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000"/>
                <a:gridCol w="2070000"/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원본 파일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customer_satisfaction_full_columns.xlsx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전체 샘플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1,500 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Train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1,050 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450 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분할 비율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70% : 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수집 연도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2023, 2024, 2025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결측치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0 (없음)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8000" y="2772000"/>
            <a:ext cx="41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🎯 입력 변수 &amp; 예측 대상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8000" y="2988000"/>
          <a:ext cx="4140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000"/>
                <a:gridCol w="2070000"/>
              </a:tblGrid>
              <a:tr h="388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입력 X (53→52)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고객 만족도/불만족 응답 + 메타(연도/제품/고객/평가영역)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수치형 (48)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도메인×지표×응답형: t1/t2/c/d/q1/q2 × CSI/CCI × res/core/comm/total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범주형 (3)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area(평가영역 6) · product(제품 5) · client(고객 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예측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rpi (1=Best ~ 5=Worst, 5-class 다중분류)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644000" y="864000"/>
            <a:ext cx="7259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📊 RPI 클래스 분포 (Train vs Test)</a:t>
            </a:r>
          </a:p>
        </p:txBody>
      </p:sp>
      <p:pic>
        <p:nvPicPr>
          <p:cNvPr id="13" name="Picture 12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0" y="1080000"/>
            <a:ext cx="7259695" cy="27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4000" y="3960000"/>
            <a:ext cx="7259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algun Gothic"/>
              </a:rPr>
              <a:t>🔖 평가 도메인 (area) 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4000" y="4176000"/>
            <a:ext cx="7259695" cy="72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2000" y="4212000"/>
            <a:ext cx="7043695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algun Gothic"/>
              </a:rPr>
              <a:t>t1 신기술  ·  t2 개발  ·  c Cost  ·  d 공급  ·  q1 품질  ·  q2 서비스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72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8000"/>
            <a:ext cx="11471695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2. 가장 성능이 좋은 세팅의 특징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450000"/>
            <a:ext cx="1147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FAE5EB"/>
                </a:solidFill>
                <a:latin typeface="Malgun Gothic"/>
              </a:rPr>
              <a:t>Best Configuration · Class-Weighted · 5-class 다중분류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Best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class_weight='balanced'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2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2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2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Macro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2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0.989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2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Micro F1 0.987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6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6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6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Macro AUROC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Micro AUROC 1.000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0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60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0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0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0.987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0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1-fold holdout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00" y="1944000"/>
            <a:ext cx="46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📈 모델별 성능 비교</a:t>
            </a:r>
          </a:p>
        </p:txBody>
      </p:sp>
      <p:pic>
        <p:nvPicPr>
          <p:cNvPr id="29" name="Picture 28" descr="perf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160000"/>
            <a:ext cx="5400000" cy="2664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32000" y="1944000"/>
            <a:ext cx="607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🔑 Best 세팅의 핵심 특징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32000" y="2160000"/>
            <a:ext cx="6071695" cy="26640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0000" y="2232000"/>
            <a:ext cx="5855695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Malgun Gothic"/>
              </a:rPr>
              <a:t>• 모델: Logistic Regression — 비선형/상호작용 학습에 강함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Malgun Gothic"/>
              </a:rPr>
              <a:t>• 표준화(StandardScaler) 후 학습 — 스케일 다른 CSI/CCI 동시 처리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Malgun Gothic"/>
              </a:rPr>
              <a:t>• 모든 모델 class_weight='balanced'로 클래스 불균형 자동 보정 (RPI 5는 7%만)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Malgun Gothic"/>
              </a:rPr>
              <a:t>• Macro/Micro 지표 동시 추적 — 소수 클래스(RPI 4·5) 누락 방지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Malgun Gothic"/>
              </a:rPr>
              <a:t>• 입력 53개 그대로 사용(범주형 LabelEncoded, year 제외) → 해석 가능성 ↑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Malgun Gothic"/>
              </a:rPr>
              <a:t>• Top 영향 변수에 q2(서비스)·t1(신기술)·c(Cost) 도메인 핵심 지표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72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8000"/>
            <a:ext cx="11471695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3. 그럼에도 모델이 잘 못 맞히는 케이스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450000"/>
            <a:ext cx="1147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FAE5EB"/>
                </a:solidFill>
                <a:latin typeface="Malgun Gothic"/>
              </a:rPr>
              <a:t>Confusion Matrix · 그룹별 오류율 · Hard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전체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98.7%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Test 450건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2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2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2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가장 어려운 RPI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2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RPI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2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오류 4%  (n=130)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6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6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6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가장 어려운 제품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오류 2%  (n=85)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0000" y="864000"/>
            <a:ext cx="1980000" cy="9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60000" y="864000"/>
            <a:ext cx="1980000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0000" y="9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algun Gothic"/>
              </a:rPr>
              <a:t>가장 어려운 도메인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0000" y="1188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>
                <a:solidFill>
                  <a:srgbClr val="A50034"/>
                </a:solidFill>
                <a:latin typeface="Malgun Gothic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0000" y="1566000"/>
            <a:ext cx="198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Malgun Gothic"/>
              </a:rPr>
              <a:t>오류 4%  (n=80)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00" y="1944000"/>
            <a:ext cx="41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🟦 Confusion Matrix</a:t>
            </a:r>
          </a:p>
        </p:txBody>
      </p:sp>
      <p:pic>
        <p:nvPicPr>
          <p:cNvPr id="29" name="Picture 2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160000"/>
            <a:ext cx="4140000" cy="306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36000" y="1944000"/>
            <a:ext cx="7367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🔥 그룹별 오류율 — 제품 / 평가 도메인</a:t>
            </a:r>
          </a:p>
        </p:txBody>
      </p:sp>
      <p:pic>
        <p:nvPicPr>
          <p:cNvPr id="31" name="Picture 30" descr="err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000" y="2160000"/>
            <a:ext cx="7367695" cy="1440000"/>
          </a:xfrm>
          <a:prstGeom prst="rect">
            <a:avLst/>
          </a:prstGeom>
        </p:spPr>
      </p:pic>
      <p:pic>
        <p:nvPicPr>
          <p:cNvPr id="32" name="Picture 31" descr="err_ar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000" y="3671999"/>
            <a:ext cx="7367695" cy="144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36000" y="5184000"/>
            <a:ext cx="7367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algun Gothic"/>
              </a:rPr>
              <a:t>💡 시사점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6000" y="5400000"/>
            <a:ext cx="7367695" cy="11520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4000" y="5436000"/>
            <a:ext cx="7151695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Malgun Gothic"/>
              </a:rPr>
              <a:t>• 중간 등급(RPI 3·4)에서 인접 클래스로 1단계 오류가 다수 — 5단계 척도 본질의 모호성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Malgun Gothic"/>
              </a:rPr>
              <a:t>• 소수 클래스(RPI 5)는 표본 부족(78개)이라 confidence는 높아도 실제는 다른 등급으로 갈 수 있음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Malgun Gothic"/>
              </a:rPr>
              <a:t>• 특정 제품·도메인 조합(예: 자동차 d공급, 모니터 c비용)에서 오류 집중 → 도메인 맞춤 모델 또는 추가 피처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72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8000"/>
            <a:ext cx="11471695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3-부록. 신뢰도 높지만 틀린 Hard Cases — Top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450000"/>
            <a:ext cx="1147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FAE5EB"/>
                </a:solidFill>
                <a:latin typeface="Malgun Gothic"/>
              </a:rPr>
              <a:t>|Δ| = |실제 RPI - 예측 RPI|, 신뢰도 = max(p)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864000"/>
          <a:ext cx="11615695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961"/>
                <a:gridCol w="1451961"/>
                <a:gridCol w="1451961"/>
                <a:gridCol w="1451961"/>
                <a:gridCol w="1451961"/>
                <a:gridCol w="1451961"/>
                <a:gridCol w="1451961"/>
                <a:gridCol w="1451968"/>
              </a:tblGrid>
              <a:tr h="56571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year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area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client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실제 RPI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예측 RPI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예측 신뢰도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오차 |Δ|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모니터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모니터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q2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노트북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0.65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q1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자동차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0.60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57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88000" y="4896000"/>
            <a:ext cx="11615695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algun Gothic"/>
              </a:rPr>
              <a:t>→ 예측 신뢰도가 높음에도 |Δ|가 2 이상인 케이스는 모델이 '확신을 가지고 틀리는' 구조적 한계 영역. 도메인 전문가와의 정성적 검토 또는 추가 변수(B2B 거래조건, 전년동기 대비 변동성 등) 도입을 권장합니다.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31695" y="288000"/>
            <a:ext cx="900000" cy="90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31695" y="342000"/>
            <a:ext cx="900000" cy="79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algun Gothic"/>
              </a:rPr>
              <a:t>LG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936000"/>
            <a:ext cx="10751695" cy="57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655847" y="1584000"/>
            <a:ext cx="2880000" cy="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692000"/>
            <a:ext cx="10751695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0">
                <a:solidFill>
                  <a:srgbClr val="E6003C"/>
                </a:solidFill>
                <a:latin typeface="Malgun Gothic"/>
              </a:rPr>
              <a:t>Best Model: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15999"/>
            <a:ext cx="10751695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C0C0C0"/>
                </a:solidFill>
                <a:latin typeface="Malgun Gothic"/>
              </a:rPr>
              <a:t>Top Features: client, t1_cci_res, q1_cci_comm, q1_cci_total, q1_cci_res, q1_cci_core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340000"/>
            <a:ext cx="1075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Malgun Gothic"/>
              </a:rPr>
              <a:t>LGD's Customer Satisfaction Survey Analysis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6570000"/>
            <a:ext cx="10751695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E6003C"/>
                </a:solidFill>
                <a:latin typeface="Malgun Gothic"/>
              </a:rPr>
              <a:t>Life's Good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4000" cy="72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1471695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느낀점 (Reflection)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450000"/>
            <a:ext cx="11471695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FAE5EB"/>
                </a:solidFill>
                <a:latin typeface="Malgun Gothic"/>
              </a:rPr>
              <a:t>본 분석을 진행하며 배운 점 / 인상 깊었던 점을 한 문장으로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3696" y="198000"/>
            <a:ext cx="612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" y="1260000"/>
            <a:ext cx="10031695" cy="30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0000" y="1260000"/>
            <a:ext cx="10031695" cy="54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4000" y="1332000"/>
            <a:ext cx="72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200" b="1">
                <a:solidFill>
                  <a:srgbClr val="E6003C"/>
                </a:solidFill>
                <a:latin typeface="Malgun Gothic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9695" y="3528000"/>
            <a:ext cx="72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200" b="1">
                <a:solidFill>
                  <a:srgbClr val="E6003C"/>
                </a:solidFill>
                <a:latin typeface="Malgun Gothic"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2574000"/>
            <a:ext cx="8591695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B0B0B0"/>
                </a:solidFill>
                <a:latin typeface="Malgun Gothic"/>
              </a:rPr>
              <a:t>여기에 한 문장을 직접 입력해 주세요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8000"/>
            <a:ext cx="12191695" cy="36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8000"/>
            <a:ext cx="144000" cy="360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" y="6552000"/>
            <a:ext cx="11471695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algun Gothic"/>
              </a:rPr>
              <a:t>LG DISPLAY  ·  Customer Satisfaction Survey Analysis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